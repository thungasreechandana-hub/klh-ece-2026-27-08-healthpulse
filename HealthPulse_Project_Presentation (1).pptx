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744" y="-68580"/>
            <a:ext cx="12191695" cy="68580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0791" cy="6858000"/>
          </a:xfrm>
          <a:prstGeom prst="rect">
            <a:avLst/>
          </a:prstGeom>
          <a:solidFill>
            <a:srgbClr val="142641"/>
          </a:solidFill>
          <a:ln w="15240">
            <a:solidFill>
              <a:srgbClr val="14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8549640" y="3246120"/>
            <a:ext cx="502920" cy="0"/>
          </a:xfrm>
          <a:prstGeom prst="line">
            <a:avLst/>
          </a:prstGeom>
          <a:ln w="33020">
            <a:solidFill>
              <a:srgbClr val="16B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9052560" y="2880360"/>
            <a:ext cx="201168" cy="365760"/>
          </a:xfrm>
          <a:prstGeom prst="line">
            <a:avLst/>
          </a:prstGeom>
          <a:ln w="33020">
            <a:solidFill>
              <a:srgbClr val="16B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253728" y="2880360"/>
            <a:ext cx="210312" cy="822960"/>
          </a:xfrm>
          <a:prstGeom prst="line">
            <a:avLst/>
          </a:prstGeom>
          <a:ln w="33020">
            <a:solidFill>
              <a:srgbClr val="16B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9464040" y="2240280"/>
            <a:ext cx="274320" cy="1463040"/>
          </a:xfrm>
          <a:prstGeom prst="line">
            <a:avLst/>
          </a:prstGeom>
          <a:ln w="33020">
            <a:solidFill>
              <a:srgbClr val="16B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38360" y="2240280"/>
            <a:ext cx="265176" cy="1234440"/>
          </a:xfrm>
          <a:prstGeom prst="line">
            <a:avLst/>
          </a:prstGeom>
          <a:ln w="33020">
            <a:solidFill>
              <a:srgbClr val="16B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003536" y="3246120"/>
            <a:ext cx="219456" cy="228600"/>
          </a:xfrm>
          <a:prstGeom prst="line">
            <a:avLst/>
          </a:prstGeom>
          <a:ln w="33020">
            <a:solidFill>
              <a:srgbClr val="16B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222992" y="3246120"/>
            <a:ext cx="1389888" cy="0"/>
          </a:xfrm>
          <a:prstGeom prst="line">
            <a:avLst/>
          </a:prstGeom>
          <a:ln w="33020">
            <a:solidFill>
              <a:srgbClr val="16B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548640"/>
            <a:ext cx="6858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6BEAE"/>
                </a:solidFill>
                <a:latin typeface="Aptos"/>
              </a:defRPr>
            </a:pPr>
            <a:r>
              <a:t>PROJECT-BASED LEARNING  |  FSWD / HEALTH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880588"/>
            <a:ext cx="69494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4400" b="1">
                <a:solidFill>
                  <a:srgbClr val="F5F8FC"/>
                </a:solidFill>
                <a:latin typeface="Aptos"/>
              </a:defRPr>
            </a:pPr>
            <a:r>
              <a:rPr dirty="0" err="1"/>
              <a:t>HealthPulse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85800" y="1700146"/>
            <a:ext cx="66751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400" b="1">
                <a:solidFill>
                  <a:srgbClr val="4CC6E6"/>
                </a:solidFill>
                <a:latin typeface="Aptos"/>
              </a:defRPr>
            </a:pPr>
            <a:r>
              <a:rPr dirty="0"/>
              <a:t>Real-Time Patient Telemetry</a:t>
            </a:r>
            <a:br>
              <a:rPr dirty="0"/>
            </a:br>
            <a:r>
              <a:rPr dirty="0"/>
              <a:t>&amp; ICU Monitoring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5" y="2703646"/>
            <a:ext cx="66751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0">
                <a:solidFill>
                  <a:srgbClr val="AEBCCF"/>
                </a:solidFill>
                <a:latin typeface="Aptos"/>
              </a:defRPr>
            </a:pPr>
            <a:r>
              <a:rPr dirty="0"/>
              <a:t>A full-stack dashboard for visualizing vital signs and telemetry events.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" y="3221665"/>
            <a:ext cx="6720840" cy="1600200"/>
          </a:xfrm>
          <a:prstGeom prst="roundRect">
            <a:avLst/>
          </a:prstGeom>
          <a:solidFill>
            <a:srgbClr val="182A44"/>
          </a:solidFill>
          <a:ln w="15240">
            <a:solidFill>
              <a:srgbClr val="2A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320866"/>
            <a:ext cx="2926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16BEAE"/>
                </a:solidFill>
                <a:latin typeface="Aptos"/>
              </a:defRPr>
            </a:pPr>
            <a:r>
              <a:rPr dirty="0"/>
              <a:t>PROJECT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7" y="3705711"/>
            <a:ext cx="6126480" cy="738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0">
                <a:solidFill>
                  <a:srgbClr val="F5F8FC"/>
                </a:solidFill>
                <a:latin typeface="Aptos"/>
              </a:defRPr>
            </a:pPr>
            <a:r>
              <a:rPr sz="1400" dirty="0"/>
              <a:t>Dr. Karumuri Sri Rama Murthy</a:t>
            </a:r>
            <a:br>
              <a:rPr sz="1400" dirty="0"/>
            </a:br>
            <a:r>
              <a:rPr sz="1400" dirty="0"/>
              <a:t>Asst. Professor, Department of CSE</a:t>
            </a:r>
            <a:br>
              <a:rPr sz="1400" dirty="0"/>
            </a:br>
            <a:r>
              <a:rPr sz="1400" dirty="0"/>
              <a:t>KLU Hyderabad, </a:t>
            </a:r>
            <a:r>
              <a:rPr sz="1400" dirty="0" err="1"/>
              <a:t>Hyd</a:t>
            </a:r>
            <a:endParaRPr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612649" y="5062885"/>
            <a:ext cx="704088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FFA448"/>
                </a:solidFill>
                <a:latin typeface="Aptos"/>
              </a:defRPr>
            </a:pPr>
            <a:r>
              <a:rPr sz="1400" dirty="0"/>
              <a:t>TEAM NO: </a:t>
            </a:r>
            <a:r>
              <a:rPr lang="en-US" sz="1400" dirty="0"/>
              <a:t>8</a:t>
            </a:r>
            <a:endParaRPr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516636" y="5572210"/>
            <a:ext cx="713232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25200400</a:t>
            </a:r>
            <a:r>
              <a:rPr lang="en-US" sz="1600" dirty="0"/>
              <a:t>23    Sai Lahari</a:t>
            </a:r>
          </a:p>
          <a:p>
            <a:pPr algn="l">
              <a:defRPr sz="1100" b="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252004003</a:t>
            </a:r>
            <a:r>
              <a:rPr lang="en-US" sz="1600" dirty="0"/>
              <a:t>0   </a:t>
            </a:r>
            <a:r>
              <a:rPr lang="en-US" sz="1600" dirty="0" err="1"/>
              <a:t>T.Sree</a:t>
            </a:r>
            <a:r>
              <a:rPr lang="en-US" sz="1600" dirty="0"/>
              <a:t> Chandana</a:t>
            </a:r>
            <a:endParaRPr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8503920" y="5212080"/>
            <a:ext cx="32004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F5F8FC"/>
                </a:solidFill>
                <a:latin typeface="Aptos"/>
              </a:defRPr>
            </a:pPr>
            <a:r>
              <a:t>LIVE VITALS</a:t>
            </a:r>
            <a:br/>
            <a:r>
              <a:t>REAL-TIME UPDATES</a:t>
            </a:r>
            <a:br/>
            <a:r>
              <a:t>API-DRIVEN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50976"/>
            <a:ext cx="685800" cy="50292"/>
          </a:xfrm>
          <a:prstGeom prst="rect">
            <a:avLst/>
          </a:prstGeom>
          <a:solidFill>
            <a:srgbClr val="16BEAE"/>
          </a:solidFill>
          <a:ln w="15240">
            <a:solidFill>
              <a:srgbClr val="16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AEBCCF"/>
                </a:solidFill>
                <a:latin typeface="Aptos"/>
              </a:defRPr>
            </a:pPr>
            <a:r>
              <a:t>Project overview in concise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AEBCC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 lIns="54864" tIns="36576" rIns="45720" bIns="18288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HealthPulse is a web-based dashboard for visualizing patient telemetry in a clear, responsive interface.</a:t>
            </a:r>
          </a:p>
          <a:p>
            <a:pPr>
              <a:spcAft>
                <a:spcPts val="11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It presents heart rate, SpO₂, body temperature, respiratory rate and ECG-style trend information.</a:t>
            </a:r>
          </a:p>
          <a:p>
            <a:pPr>
              <a:spcAft>
                <a:spcPts val="11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The frontend is developed with React and TypeScript for reusable, interactive components.</a:t>
            </a:r>
          </a:p>
          <a:p>
            <a:pPr>
              <a:spcAft>
                <a:spcPts val="11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Node.js and Express provide REST APIs for health, patient, sensor, history and authentication operations.</a:t>
            </a:r>
          </a:p>
          <a:p>
            <a:pPr>
              <a:spcAft>
                <a:spcPts val="11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Socket.IO enables the backend to push changing telemetry to connected dashboard clients in real time.</a:t>
            </a:r>
          </a:p>
          <a:p>
            <a:pPr>
              <a:spcAft>
                <a:spcPts val="11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The default academic demonstration uses simulated readings; MQTT input can be enabled for broker-based data.</a:t>
            </a:r>
          </a:p>
          <a:p>
            <a:pPr>
              <a:spcAft>
                <a:spcPts val="11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PostgreSQL/TimescaleDB schemas and backend support are included for optional historical time-series persistence.</a:t>
            </a:r>
          </a:p>
          <a:p>
            <a:pPr>
              <a:spcAft>
                <a:spcPts val="11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The goal is to demonstrate full-stack architecture and make telemetry trends easier to view and understand.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715000"/>
            <a:ext cx="10515600" cy="438912"/>
          </a:xfrm>
          <a:prstGeom prst="roundRect">
            <a:avLst/>
          </a:prstGeom>
          <a:solidFill>
            <a:srgbClr val="193F4E"/>
          </a:solidFill>
          <a:ln w="15240">
            <a:solidFill>
              <a:srgbClr val="193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797296"/>
            <a:ext cx="10149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16BEAE"/>
                </a:solidFill>
                <a:latin typeface="Aptos"/>
              </a:defRPr>
            </a:pPr>
            <a:r>
              <a:t>KEY IDEA: React UI  +  Express REST APIs  +  Socket.IO live updates  +  optional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AEBCCF"/>
                </a:solidFill>
                <a:latin typeface="Aptos"/>
              </a:defRPr>
            </a:pPr>
            <a:r>
              <a:t>HealthPulse • Project-Based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AEBCCF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Technologies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50976"/>
            <a:ext cx="685800" cy="50292"/>
          </a:xfrm>
          <a:prstGeom prst="rect">
            <a:avLst/>
          </a:prstGeom>
          <a:solidFill>
            <a:srgbClr val="16BEAE"/>
          </a:solidFill>
          <a:ln w="15240">
            <a:solidFill>
              <a:srgbClr val="16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AEBCCF"/>
                </a:solidFill>
                <a:latin typeface="Aptos"/>
              </a:defRPr>
            </a:pPr>
            <a:r>
              <a:t>Frontend, backend / middleware, and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AEBCC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474720" cy="3611880"/>
          </a:xfrm>
          <a:prstGeom prst="roundRect">
            <a:avLst/>
          </a:prstGeom>
          <a:solidFill>
            <a:srgbClr val="182A44"/>
          </a:solidFill>
          <a:ln w="15240">
            <a:solidFill>
              <a:srgbClr val="2A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64008" cy="3611880"/>
          </a:xfrm>
          <a:prstGeom prst="rect">
            <a:avLst/>
          </a:prstGeom>
          <a:solidFill>
            <a:srgbClr val="16BEAE"/>
          </a:solidFill>
          <a:ln w="15240">
            <a:solidFill>
              <a:srgbClr val="16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764792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6BEAE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76272"/>
            <a:ext cx="3127248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0">
                <a:solidFill>
                  <a:srgbClr val="F5F8FC"/>
                </a:solidFill>
                <a:latin typeface="Aptos"/>
              </a:defRPr>
            </a:pPr>
            <a:r>
              <a:t>React</a:t>
            </a:r>
            <a:br/>
            <a:r>
              <a:t>TypeScript</a:t>
            </a:r>
            <a:br/>
            <a:r>
              <a:t>Vite</a:t>
            </a:r>
            <a:br/>
            <a:r>
              <a:t>Recharts</a:t>
            </a:r>
            <a:br/>
            <a:r>
              <a:t>HTML5 + CSS</a:t>
            </a:r>
            <a:br/>
            <a:r>
              <a:t>Socket.IO Client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00200"/>
            <a:ext cx="3474720" cy="3611880"/>
          </a:xfrm>
          <a:prstGeom prst="roundRect">
            <a:avLst/>
          </a:prstGeom>
          <a:solidFill>
            <a:srgbClr val="182A44"/>
          </a:solidFill>
          <a:ln w="15240">
            <a:solidFill>
              <a:srgbClr val="2A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600200"/>
            <a:ext cx="64008" cy="3611880"/>
          </a:xfrm>
          <a:prstGeom prst="rect">
            <a:avLst/>
          </a:prstGeom>
          <a:solidFill>
            <a:srgbClr val="7E5FF5"/>
          </a:solidFill>
          <a:ln w="15240">
            <a:solidFill>
              <a:srgbClr val="7E5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764792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7E5FF5"/>
                </a:solidFill>
                <a:latin typeface="Aptos"/>
              </a:defRPr>
            </a:pPr>
            <a:r>
              <a:t>BACKEND / MIDDLEWARE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176272"/>
            <a:ext cx="3127248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  <a:latin typeface="Aptos"/>
              </a:defRPr>
            </a:pPr>
            <a:r>
              <a:t>Node.js</a:t>
            </a:r>
            <a:br/>
            <a:r>
              <a:t>Express.js</a:t>
            </a:r>
            <a:br/>
            <a:r>
              <a:t>REST API endpoints</a:t>
            </a:r>
            <a:br/>
            <a:r>
              <a:t>Socket.IO server</a:t>
            </a:r>
            <a:br/>
            <a:r>
              <a:t>Server-Sent Events (SSE)</a:t>
            </a:r>
            <a:br/>
            <a:r>
              <a:t>JWT + bcrypt authentication</a:t>
            </a:r>
            <a:br/>
            <a:r>
              <a:t>Optional MQTT bridge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3611880"/>
          </a:xfrm>
          <a:prstGeom prst="roundRect">
            <a:avLst/>
          </a:prstGeom>
          <a:solidFill>
            <a:srgbClr val="182A44"/>
          </a:solidFill>
          <a:ln w="15240">
            <a:solidFill>
              <a:srgbClr val="2A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64008" cy="3611880"/>
          </a:xfrm>
          <a:prstGeom prst="rect">
            <a:avLst/>
          </a:prstGeom>
          <a:solidFill>
            <a:srgbClr val="FFA448"/>
          </a:solidFill>
          <a:ln w="15240">
            <a:solidFill>
              <a:srgbClr val="FFA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764792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FFA448"/>
                </a:solidFill>
                <a:latin typeface="Aptos"/>
              </a:defRPr>
            </a:pPr>
            <a:r>
              <a:t>DATABASE &amp;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76272"/>
            <a:ext cx="3127248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  <a:latin typeface="Aptos"/>
              </a:defRPr>
            </a:pPr>
            <a:r>
              <a:t>PostgreSQL (`pg`) support</a:t>
            </a:r>
            <a:br/>
            <a:r>
              <a:t>TimescaleDB schema</a:t>
            </a:r>
            <a:br/>
            <a:r>
              <a:t>SQL schema files</a:t>
            </a:r>
            <a:br/>
            <a:r>
              <a:t>`.env` configuration</a:t>
            </a:r>
            <a:br/>
            <a:r>
              <a:t>Render deployment config</a:t>
            </a:r>
            <a:br/>
            <a:r>
              <a:t>GitHub Actions workflow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486400"/>
            <a:ext cx="10835640" cy="502920"/>
          </a:xfrm>
          <a:prstGeom prst="roundRect">
            <a:avLst/>
          </a:prstGeom>
          <a:solidFill>
            <a:srgbClr val="193F4E"/>
          </a:solidFill>
          <a:ln w="15240">
            <a:solidFill>
              <a:srgbClr val="193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596128"/>
            <a:ext cx="10424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0">
                <a:solidFill>
                  <a:srgbClr val="F5F8FC"/>
                </a:solidFill>
                <a:latin typeface="Aptos"/>
              </a:defRPr>
            </a:pPr>
            <a:r>
              <a:t>Demo note: simulated telemetry runs by default; database and MQTT integrations are optional.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AEBCCF"/>
                </a:solidFill>
                <a:latin typeface="Aptos"/>
              </a:defRPr>
            </a:pPr>
            <a:r>
              <a:t>HealthPulse • Project-Based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AEBCCF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Problem Description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50976"/>
            <a:ext cx="685800" cy="50292"/>
          </a:xfrm>
          <a:prstGeom prst="rect">
            <a:avLst/>
          </a:prstGeom>
          <a:solidFill>
            <a:srgbClr val="16BEAE"/>
          </a:solidFill>
          <a:ln w="15240">
            <a:solidFill>
              <a:srgbClr val="16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AEBCCF"/>
                </a:solidFill>
                <a:latin typeface="Aptos"/>
              </a:defRPr>
            </a:pPr>
            <a:r>
              <a:t>Why a real-time telemetry dashboard is useful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AEBCC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1828800"/>
          </a:xfrm>
          <a:prstGeom prst="roundRect">
            <a:avLst/>
          </a:prstGeom>
          <a:solidFill>
            <a:srgbClr val="182A44"/>
          </a:solidFill>
          <a:ln w="15240">
            <a:solidFill>
              <a:srgbClr val="2A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64008" cy="1828800"/>
          </a:xfrm>
          <a:prstGeom prst="rect">
            <a:avLst/>
          </a:prstGeom>
          <a:solidFill>
            <a:srgbClr val="FFA448"/>
          </a:solidFill>
          <a:ln w="15240">
            <a:solidFill>
              <a:srgbClr val="FFA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64792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FFA448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4864608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  <a:latin typeface="Aptos"/>
              </a:defRPr>
            </a:pPr>
            <a:r>
              <a:t>Vital-sign readings can change continuously. A static interface or manually refreshed page makes it harder to observe trends and identify unusual readings quickly.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212080" cy="1828800"/>
          </a:xfrm>
          <a:prstGeom prst="roundRect">
            <a:avLst/>
          </a:prstGeom>
          <a:solidFill>
            <a:srgbClr val="182A44"/>
          </a:solidFill>
          <a:ln w="15240">
            <a:solidFill>
              <a:srgbClr val="2A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64008" cy="1828800"/>
          </a:xfrm>
          <a:prstGeom prst="rect">
            <a:avLst/>
          </a:prstGeom>
          <a:solidFill>
            <a:srgbClr val="16BEAE"/>
          </a:solidFill>
          <a:ln w="15240">
            <a:solidFill>
              <a:srgbClr val="16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764792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6BEAE"/>
                </a:solidFill>
                <a:latin typeface="Aptos"/>
              </a:defRPr>
            </a:pPr>
            <a:r>
              <a:t>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76272"/>
            <a:ext cx="4864608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  <a:latin typeface="Aptos"/>
              </a:defRPr>
            </a:pPr>
            <a:r>
              <a:t>A responsive, centralized interface that presents multiple parameters, trends and alerts while keeping the frontend and backend clearly separated.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94760"/>
            <a:ext cx="10424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4CC6E6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24528"/>
            <a:ext cx="10332720" cy="1691640"/>
          </a:xfrm>
          <a:prstGeom prst="rect">
            <a:avLst/>
          </a:prstGeom>
          <a:noFill/>
        </p:spPr>
        <p:txBody>
          <a:bodyPr wrap="square" lIns="54864" tIns="36576" rIns="45720" bIns="18288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Visualize heart rate, SpO₂, temperature and respiratory-rate readings in one dashboard.</a:t>
            </a:r>
          </a:p>
          <a:p>
            <a:pPr>
              <a:spcAft>
                <a:spcPts val="6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Provide REST endpoints for patient, sensor and history data.</a:t>
            </a:r>
          </a:p>
          <a:p>
            <a:pPr>
              <a:spcAft>
                <a:spcPts val="6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Stream updates to connected clients through Socket.IO and provide an SSE endpoint.</a:t>
            </a:r>
          </a:p>
          <a:p>
            <a:pPr>
              <a:spcAft>
                <a:spcPts val="6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Keep the demo easy to run with simulated data, while allowing optional MQTT/database integration.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AEBCCF"/>
                </a:solidFill>
                <a:latin typeface="Aptos"/>
              </a:defRPr>
            </a:pPr>
            <a:r>
              <a:t>HealthPulse • Project-Based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AEBCCF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50976"/>
            <a:ext cx="685800" cy="50292"/>
          </a:xfrm>
          <a:prstGeom prst="rect">
            <a:avLst/>
          </a:prstGeom>
          <a:solidFill>
            <a:srgbClr val="16BEAE"/>
          </a:solidFill>
          <a:ln w="15240">
            <a:solidFill>
              <a:srgbClr val="16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AEBCCF"/>
                </a:solidFill>
                <a:latin typeface="Aptos"/>
              </a:defRPr>
            </a:pPr>
            <a:r>
              <a:t>Data flow from source to dashboard and historical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AEBCC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057400" cy="1371600"/>
          </a:xfrm>
          <a:prstGeom prst="roundRect">
            <a:avLst/>
          </a:prstGeom>
          <a:solidFill>
            <a:srgbClr val="182A44"/>
          </a:solidFill>
          <a:ln w="15240">
            <a:solidFill>
              <a:srgbClr val="FFA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183794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FFA448"/>
                </a:solidFill>
                <a:latin typeface="Aptos"/>
              </a:defRPr>
            </a:pPr>
            <a:r>
              <a:t>TELEMETRY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41448"/>
            <a:ext cx="1837943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0">
                <a:solidFill>
                  <a:srgbClr val="F5F8FC"/>
                </a:solidFill>
                <a:latin typeface="Aptos"/>
              </a:defRPr>
            </a:pPr>
            <a:r>
              <a:t>Simulator</a:t>
            </a:r>
            <a:br/>
            <a:r>
              <a:t>Optional MQTT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874519"/>
            <a:ext cx="2240280" cy="1371600"/>
          </a:xfrm>
          <a:prstGeom prst="roundRect">
            <a:avLst/>
          </a:prstGeom>
          <a:solidFill>
            <a:srgbClr val="182A44"/>
          </a:solidFill>
          <a:ln w="15240">
            <a:solidFill>
              <a:srgbClr val="7E5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55848" y="2039112"/>
            <a:ext cx="20208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7E5FF5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2441448"/>
            <a:ext cx="2020824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0">
                <a:solidFill>
                  <a:srgbClr val="F5F8FC"/>
                </a:solidFill>
                <a:latin typeface="Aptos"/>
              </a:defRPr>
            </a:pPr>
            <a:r>
              <a:t>Node.js + Express</a:t>
            </a:r>
            <a:br/>
            <a:r>
              <a:t>REST APIs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874519"/>
            <a:ext cx="2240280" cy="1371600"/>
          </a:xfrm>
          <a:prstGeom prst="roundRect">
            <a:avLst/>
          </a:prstGeom>
          <a:solidFill>
            <a:srgbClr val="182A44"/>
          </a:solidFill>
          <a:ln w="15240">
            <a:solidFill>
              <a:srgbClr val="16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8" y="2039112"/>
            <a:ext cx="20208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16BEAE"/>
                </a:solidFill>
                <a:latin typeface="Aptos"/>
              </a:defRPr>
            </a:pPr>
            <a:r>
              <a:t>REAL-TIME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441448"/>
            <a:ext cx="2020824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0">
                <a:solidFill>
                  <a:srgbClr val="F5F8FC"/>
                </a:solidFill>
                <a:latin typeface="Aptos"/>
              </a:defRPr>
            </a:pPr>
            <a:r>
              <a:t>Socket.IO</a:t>
            </a:r>
            <a:br/>
            <a:r>
              <a:t>SSE endpoint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874519"/>
            <a:ext cx="2514600" cy="1371600"/>
          </a:xfrm>
          <a:prstGeom prst="roundRect">
            <a:avLst/>
          </a:prstGeom>
          <a:solidFill>
            <a:srgbClr val="182A44"/>
          </a:solidFill>
          <a:ln w="15240">
            <a:solidFill>
              <a:srgbClr val="4CC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16567" y="2039112"/>
            <a:ext cx="229514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4CC6E6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7" y="2441448"/>
            <a:ext cx="2295144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0">
                <a:solidFill>
                  <a:srgbClr val="F5F8FC"/>
                </a:solidFill>
                <a:latin typeface="Aptos"/>
              </a:defRPr>
            </a:pPr>
            <a:r>
              <a:t>React + TypeScript</a:t>
            </a:r>
            <a:br/>
            <a:r>
              <a:t>Recharts dashboard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51760" y="2560320"/>
            <a:ext cx="594360" cy="0"/>
          </a:xfrm>
          <a:prstGeom prst="line">
            <a:avLst/>
          </a:prstGeom>
          <a:ln w="27940">
            <a:solidFill>
              <a:srgbClr val="F5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486400" y="2560320"/>
            <a:ext cx="640080" cy="0"/>
          </a:xfrm>
          <a:prstGeom prst="line">
            <a:avLst/>
          </a:prstGeom>
          <a:ln w="27940">
            <a:solidFill>
              <a:srgbClr val="F5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366760" y="2560320"/>
            <a:ext cx="640080" cy="0"/>
          </a:xfrm>
          <a:prstGeom prst="line">
            <a:avLst/>
          </a:prstGeom>
          <a:ln w="27940">
            <a:solidFill>
              <a:srgbClr val="F5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840480" y="4160520"/>
            <a:ext cx="4389120" cy="1143000"/>
          </a:xfrm>
          <a:prstGeom prst="roundRect">
            <a:avLst/>
          </a:prstGeom>
          <a:solidFill>
            <a:srgbClr val="282A4B"/>
          </a:solidFill>
          <a:ln w="15240">
            <a:solidFill>
              <a:srgbClr val="FFA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23360" y="4315968"/>
            <a:ext cx="4023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FFA448"/>
                </a:solidFill>
                <a:latin typeface="Aptos"/>
              </a:defRPr>
            </a:pPr>
            <a:r>
              <a:t>OPTIONAL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645152"/>
            <a:ext cx="4023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0">
                <a:solidFill>
                  <a:srgbClr val="F5F8FC"/>
                </a:solidFill>
                <a:latin typeface="Aptos"/>
              </a:defRPr>
            </a:pPr>
            <a:r>
              <a:t>PostgreSQL / TimescaleDB</a:t>
            </a:r>
            <a:br/>
            <a:r>
              <a:t>Historical telemetry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343400" y="3246120"/>
            <a:ext cx="502920" cy="914400"/>
          </a:xfrm>
          <a:prstGeom prst="line">
            <a:avLst/>
          </a:prstGeom>
          <a:ln w="25400">
            <a:solidFill>
              <a:srgbClr val="FFA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4983480" y="3246120"/>
            <a:ext cx="411480" cy="914400"/>
          </a:xfrm>
          <a:prstGeom prst="line">
            <a:avLst/>
          </a:prstGeom>
          <a:ln w="25400">
            <a:solidFill>
              <a:srgbClr val="FFA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68680" y="5623560"/>
            <a:ext cx="10515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16BEAE"/>
                </a:solidFill>
                <a:latin typeface="Aptos"/>
              </a:defRPr>
            </a:pPr>
            <a:r>
              <a:t>Flow: readings → backend processing → live events → dashboard charts and alerts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AEBCCF"/>
                </a:solidFill>
                <a:latin typeface="Aptos"/>
              </a:defRPr>
            </a:pPr>
            <a:r>
              <a:t>HealthPulse • Project-Based 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AEBCCF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Implementation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50976"/>
            <a:ext cx="685800" cy="50292"/>
          </a:xfrm>
          <a:prstGeom prst="rect">
            <a:avLst/>
          </a:prstGeom>
          <a:solidFill>
            <a:srgbClr val="16BEAE"/>
          </a:solidFill>
          <a:ln w="15240">
            <a:solidFill>
              <a:srgbClr val="16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AEBCCF"/>
                </a:solidFill>
                <a:latin typeface="Aptos"/>
              </a:defRPr>
            </a:pPr>
            <a:r>
              <a:t>Main modules and example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AEBCC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474720" cy="1874519"/>
          </a:xfrm>
          <a:prstGeom prst="roundRect">
            <a:avLst/>
          </a:prstGeom>
          <a:solidFill>
            <a:srgbClr val="182A44"/>
          </a:solidFill>
          <a:ln w="15240">
            <a:solidFill>
              <a:srgbClr val="2A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64008" cy="1874519"/>
          </a:xfrm>
          <a:prstGeom prst="rect">
            <a:avLst/>
          </a:prstGeom>
          <a:solidFill>
            <a:srgbClr val="16BEAE"/>
          </a:solidFill>
          <a:ln w="15240">
            <a:solidFill>
              <a:srgbClr val="16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6BEAE"/>
                </a:solidFill>
                <a:latin typeface="Aptos"/>
              </a:defRPr>
            </a:pPr>
            <a:r>
              <a:t>1 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30552"/>
            <a:ext cx="3127248" cy="11887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  <a:latin typeface="Aptos"/>
              </a:defRPr>
            </a:pPr>
            <a:r>
              <a:t>Reusable React components</a:t>
            </a:r>
            <a:br/>
            <a:r>
              <a:t>State/effect hooks</a:t>
            </a:r>
            <a:br/>
            <a:r>
              <a:t>Recharts trends</a:t>
            </a:r>
            <a:br/>
            <a:r>
              <a:t>Responsive layout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54480"/>
            <a:ext cx="3474720" cy="1874519"/>
          </a:xfrm>
          <a:prstGeom prst="roundRect">
            <a:avLst/>
          </a:prstGeom>
          <a:solidFill>
            <a:srgbClr val="182A44"/>
          </a:solidFill>
          <a:ln w="15240">
            <a:solidFill>
              <a:srgbClr val="2A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554480"/>
            <a:ext cx="64008" cy="1874519"/>
          </a:xfrm>
          <a:prstGeom prst="rect">
            <a:avLst/>
          </a:prstGeom>
          <a:solidFill>
            <a:srgbClr val="7E5FF5"/>
          </a:solidFill>
          <a:ln w="15240">
            <a:solidFill>
              <a:srgbClr val="7E5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719072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7E5FF5"/>
                </a:solidFill>
                <a:latin typeface="Aptos"/>
              </a:defRPr>
            </a:pPr>
            <a:r>
              <a:t>2  BACKEND APIs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130552"/>
            <a:ext cx="3127248" cy="11887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  <a:latin typeface="Aptos"/>
              </a:defRPr>
            </a:pPr>
            <a:r>
              <a:t>Express routes</a:t>
            </a:r>
            <a:br/>
            <a:r>
              <a:t>JSON request/response</a:t>
            </a:r>
            <a:br/>
            <a:r>
              <a:t>CORS and error handling</a:t>
            </a:r>
            <a:br/>
            <a:r>
              <a:t>Authentication endpoints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474720" cy="1874519"/>
          </a:xfrm>
          <a:prstGeom prst="roundRect">
            <a:avLst/>
          </a:prstGeom>
          <a:solidFill>
            <a:srgbClr val="182A44"/>
          </a:solidFill>
          <a:ln w="15240">
            <a:solidFill>
              <a:srgbClr val="2A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64008" cy="1874519"/>
          </a:xfrm>
          <a:prstGeom prst="rect">
            <a:avLst/>
          </a:prstGeom>
          <a:solidFill>
            <a:srgbClr val="FFA448"/>
          </a:solidFill>
          <a:ln w="15240">
            <a:solidFill>
              <a:srgbClr val="FFA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719072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FFA448"/>
                </a:solidFill>
                <a:latin typeface="Aptos"/>
              </a:defRPr>
            </a:pPr>
            <a:r>
              <a:t>3  LIVE TELEMETRY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30552"/>
            <a:ext cx="3127248" cy="11887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  <a:latin typeface="Aptos"/>
              </a:defRPr>
            </a:pPr>
            <a:r>
              <a:t>Socket.IO events</a:t>
            </a:r>
            <a:br/>
            <a:r>
              <a:t>SSE endpoint</a:t>
            </a:r>
            <a:br/>
            <a:r>
              <a:t>Optional MQTT bridge</a:t>
            </a:r>
            <a:br/>
            <a:r>
              <a:t>Rolling recent readings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03320"/>
            <a:ext cx="10835640" cy="1828800"/>
          </a:xfrm>
          <a:prstGeom prst="roundRect">
            <a:avLst/>
          </a:prstGeom>
          <a:solidFill>
            <a:srgbClr val="0F2035"/>
          </a:solidFill>
          <a:ln w="15240">
            <a:solidFill>
              <a:srgbClr val="2A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803053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16BEAE"/>
                </a:solidFill>
                <a:latin typeface="Aptos"/>
              </a:defRPr>
            </a:pPr>
            <a:r>
              <a:rPr dirty="0"/>
              <a:t>EXAMPLE REST ENDPOINTS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69080"/>
            <a:ext cx="9966960" cy="1097280"/>
          </a:xfrm>
          <a:prstGeom prst="rect">
            <a:avLst/>
          </a:prstGeom>
          <a:noFill/>
        </p:spPr>
        <p:txBody>
          <a:bodyPr wrap="square" lIns="54864" tIns="36576" rIns="45720" bIns="18288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dirty="0"/>
              <a:t>•  GET    /</a:t>
            </a:r>
            <a:r>
              <a:rPr dirty="0" err="1"/>
              <a:t>api</a:t>
            </a:r>
            <a:r>
              <a:rPr dirty="0"/>
              <a:t>/health</a:t>
            </a:r>
          </a:p>
          <a:p>
            <a:pPr>
              <a:spcAft>
                <a:spcPts val="2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dirty="0"/>
              <a:t>•  GET    /</a:t>
            </a:r>
            <a:r>
              <a:rPr dirty="0" err="1"/>
              <a:t>api</a:t>
            </a:r>
            <a:r>
              <a:rPr dirty="0"/>
              <a:t>/patients</a:t>
            </a:r>
          </a:p>
          <a:p>
            <a:pPr>
              <a:spcAft>
                <a:spcPts val="2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dirty="0"/>
              <a:t>•  GET    /</a:t>
            </a:r>
            <a:r>
              <a:rPr dirty="0" err="1"/>
              <a:t>api</a:t>
            </a:r>
            <a:r>
              <a:rPr dirty="0"/>
              <a:t>/sensors</a:t>
            </a:r>
          </a:p>
          <a:p>
            <a:pPr>
              <a:spcAft>
                <a:spcPts val="2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dirty="0"/>
              <a:t>•  GET    /</a:t>
            </a:r>
            <a:r>
              <a:rPr dirty="0" err="1"/>
              <a:t>api</a:t>
            </a:r>
            <a:r>
              <a:rPr dirty="0"/>
              <a:t>/sensors/:id</a:t>
            </a:r>
          </a:p>
          <a:p>
            <a:pPr>
              <a:spcAft>
                <a:spcPts val="2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dirty="0"/>
              <a:t>•  POST / PUT / DELETE  /</a:t>
            </a:r>
            <a:r>
              <a:rPr dirty="0" err="1"/>
              <a:t>api</a:t>
            </a:r>
            <a:r>
              <a:rPr dirty="0"/>
              <a:t>/sensors</a:t>
            </a:r>
          </a:p>
          <a:p>
            <a:pPr>
              <a:spcAft>
                <a:spcPts val="2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dirty="0"/>
              <a:t>•  GET    /</a:t>
            </a:r>
            <a:r>
              <a:rPr dirty="0" err="1"/>
              <a:t>api</a:t>
            </a:r>
            <a:r>
              <a:rPr dirty="0"/>
              <a:t>/history</a:t>
            </a:r>
          </a:p>
          <a:p>
            <a:pPr>
              <a:spcAft>
                <a:spcPts val="2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dirty="0"/>
              <a:t>•  POST   /</a:t>
            </a:r>
            <a:r>
              <a:rPr dirty="0" err="1"/>
              <a:t>api</a:t>
            </a:r>
            <a:r>
              <a:rPr dirty="0"/>
              <a:t>/auth/register  |  /</a:t>
            </a:r>
            <a:r>
              <a:rPr dirty="0" err="1"/>
              <a:t>api</a:t>
            </a:r>
            <a:r>
              <a:rPr dirty="0"/>
              <a:t>/auth/login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AEBCCF"/>
                </a:solidFill>
                <a:latin typeface="Aptos"/>
              </a:defRPr>
            </a:pPr>
            <a:r>
              <a:t>HealthPulse • Project-Based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AEBCCF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Output Screens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50976"/>
            <a:ext cx="685800" cy="50292"/>
          </a:xfrm>
          <a:prstGeom prst="rect">
            <a:avLst/>
          </a:prstGeom>
          <a:solidFill>
            <a:srgbClr val="16BEAE"/>
          </a:solidFill>
          <a:ln w="15240">
            <a:solidFill>
              <a:srgbClr val="16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AEBCCF"/>
                </a:solidFill>
                <a:latin typeface="Aptos"/>
              </a:defRPr>
            </a:pPr>
            <a:r>
              <a:t>Representative UI layouts for the HealthPulse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AEBCC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5349240" cy="3108960"/>
          </a:xfrm>
          <a:prstGeom prst="roundRect">
            <a:avLst/>
          </a:prstGeom>
          <a:solidFill>
            <a:srgbClr val="081222"/>
          </a:solidFill>
          <a:ln w="15240">
            <a:solidFill>
              <a:srgbClr val="38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5074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16BEAE"/>
                </a:solidFill>
                <a:latin typeface="Aptos"/>
              </a:defRPr>
            </a:pPr>
            <a:r>
              <a:t>DASHBOARD — LIVE VITALS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" y="1892807"/>
            <a:ext cx="868680" cy="2606039"/>
          </a:xfrm>
          <a:prstGeom prst="roundRect">
            <a:avLst/>
          </a:prstGeom>
          <a:solidFill>
            <a:srgbClr val="111F35"/>
          </a:solidFill>
          <a:ln w="15240"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731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700" b="1">
                <a:solidFill>
                  <a:srgbClr val="F5F8FC"/>
                </a:solidFill>
                <a:latin typeface="Aptos"/>
              </a:defRPr>
            </a:pPr>
            <a:r>
              <a:t>HealthPulse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50008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650" b="1">
                <a:solidFill>
                  <a:srgbClr val="4CC6E6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33472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650" b="0">
                <a:solidFill>
                  <a:srgbClr val="AEBCCF"/>
                </a:solidFill>
                <a:latin typeface="Aptos"/>
              </a:defRPr>
            </a:pPr>
            <a:r>
              <a:t>Patients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16936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650" b="0">
                <a:solidFill>
                  <a:srgbClr val="AEBCCF"/>
                </a:solidFill>
                <a:latin typeface="Aptos"/>
              </a:defRPr>
            </a:pPr>
            <a:r>
              <a:t>Sensors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650" b="0">
                <a:solidFill>
                  <a:srgbClr val="AEBCCF"/>
                </a:solidFill>
                <a:latin typeface="Aptos"/>
              </a:defRPr>
            </a:pPr>
            <a:r>
              <a:t>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483863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650" b="0">
                <a:solidFill>
                  <a:srgbClr val="AEBCCF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1947672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1">
                <a:solidFill>
                  <a:srgbClr val="F5F8FC"/>
                </a:solidFill>
                <a:latin typeface="Aptos"/>
              </a:defRPr>
            </a:pPr>
            <a:r>
              <a:t>ICU Bed 04  •  Live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83080" y="2258568"/>
            <a:ext cx="1322832" cy="621792"/>
          </a:xfrm>
          <a:prstGeom prst="roundRect">
            <a:avLst/>
          </a:prstGeom>
          <a:solidFill>
            <a:srgbClr val="14263C"/>
          </a:solidFill>
          <a:ln w="15240">
            <a:solidFill>
              <a:srgbClr val="FF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19656" y="2331720"/>
            <a:ext cx="1249679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650" b="0">
                <a:solidFill>
                  <a:srgbClr val="AEBCCF"/>
                </a:solidFill>
                <a:latin typeface="Aptos"/>
              </a:defRPr>
            </a:pPr>
            <a:r>
              <a:t>Heart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9656" y="2560320"/>
            <a:ext cx="124967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5B70"/>
                </a:solidFill>
                <a:latin typeface="Aptos"/>
              </a:defRPr>
            </a:pPr>
            <a:r>
              <a:t>72 bpm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79064" y="2258568"/>
            <a:ext cx="1322832" cy="621792"/>
          </a:xfrm>
          <a:prstGeom prst="roundRect">
            <a:avLst/>
          </a:prstGeom>
          <a:solidFill>
            <a:srgbClr val="14263C"/>
          </a:solidFill>
          <a:ln w="15240">
            <a:solidFill>
              <a:srgbClr val="4CC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15640" y="2331720"/>
            <a:ext cx="1249679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650" b="0">
                <a:solidFill>
                  <a:srgbClr val="AEBCCF"/>
                </a:solidFill>
                <a:latin typeface="Aptos"/>
              </a:defRPr>
            </a:pPr>
            <a:r>
              <a:t>SpO₂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15640" y="2560320"/>
            <a:ext cx="124967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4CC6E6"/>
                </a:solidFill>
                <a:latin typeface="Aptos"/>
              </a:defRPr>
            </a:pPr>
            <a:r>
              <a:t>98%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5048" y="2258568"/>
            <a:ext cx="1322832" cy="621792"/>
          </a:xfrm>
          <a:prstGeom prst="roundRect">
            <a:avLst/>
          </a:prstGeom>
          <a:solidFill>
            <a:srgbClr val="14263C"/>
          </a:solidFill>
          <a:ln w="15240">
            <a:solidFill>
              <a:srgbClr val="FFA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1624" y="2331720"/>
            <a:ext cx="1249679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650" b="0">
                <a:solidFill>
                  <a:srgbClr val="AEBCCF"/>
                </a:solidFill>
                <a:latin typeface="Aptos"/>
              </a:defRPr>
            </a:pPr>
            <a:r>
              <a:t>Temp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1624" y="2560320"/>
            <a:ext cx="124967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A448"/>
                </a:solidFill>
                <a:latin typeface="Aptos"/>
              </a:defRPr>
            </a:pPr>
            <a:r>
              <a:t>36.8°C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83080" y="3017520"/>
            <a:ext cx="4114800" cy="841248"/>
          </a:xfrm>
          <a:prstGeom prst="roundRect">
            <a:avLst/>
          </a:prstGeom>
          <a:solidFill>
            <a:srgbClr val="0E1F30"/>
          </a:solidFill>
          <a:ln w="15240">
            <a:solidFill>
              <a:srgbClr val="2A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74519" y="3081528"/>
            <a:ext cx="3931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700" b="1">
                <a:solidFill>
                  <a:srgbClr val="F5F8FC"/>
                </a:solidFill>
                <a:latin typeface="Aptos"/>
              </a:defRPr>
            </a:pPr>
            <a:r>
              <a:t>ECG / Heart-rate trend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892807" y="3502152"/>
            <a:ext cx="237745" cy="0"/>
          </a:xfrm>
          <a:prstGeom prst="line">
            <a:avLst/>
          </a:prstGeom>
          <a:ln w="16510">
            <a:solidFill>
              <a:srgbClr val="40C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130552" y="3319272"/>
            <a:ext cx="91439" cy="182880"/>
          </a:xfrm>
          <a:prstGeom prst="line">
            <a:avLst/>
          </a:prstGeom>
          <a:ln w="16510">
            <a:solidFill>
              <a:srgbClr val="40C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221991" y="3319272"/>
            <a:ext cx="91441" cy="365759"/>
          </a:xfrm>
          <a:prstGeom prst="line">
            <a:avLst/>
          </a:prstGeom>
          <a:ln w="16510">
            <a:solidFill>
              <a:srgbClr val="40C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313432" y="3172968"/>
            <a:ext cx="128016" cy="512063"/>
          </a:xfrm>
          <a:prstGeom prst="line">
            <a:avLst/>
          </a:prstGeom>
          <a:ln w="16510">
            <a:solidFill>
              <a:srgbClr val="40C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441448" y="3172968"/>
            <a:ext cx="100584" cy="329184"/>
          </a:xfrm>
          <a:prstGeom prst="line">
            <a:avLst/>
          </a:prstGeom>
          <a:ln w="16510">
            <a:solidFill>
              <a:srgbClr val="40C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542032" y="3502152"/>
            <a:ext cx="246888" cy="0"/>
          </a:xfrm>
          <a:prstGeom prst="line">
            <a:avLst/>
          </a:prstGeom>
          <a:ln w="16510">
            <a:solidFill>
              <a:srgbClr val="40C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788920" y="3502152"/>
            <a:ext cx="91440" cy="0"/>
          </a:xfrm>
          <a:prstGeom prst="line">
            <a:avLst/>
          </a:prstGeom>
          <a:ln w="16510">
            <a:solidFill>
              <a:srgbClr val="40C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880360" y="3319272"/>
            <a:ext cx="91440" cy="182880"/>
          </a:xfrm>
          <a:prstGeom prst="line">
            <a:avLst/>
          </a:prstGeom>
          <a:ln w="16510">
            <a:solidFill>
              <a:srgbClr val="40C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971800" y="3319272"/>
            <a:ext cx="91439" cy="365759"/>
          </a:xfrm>
          <a:prstGeom prst="line">
            <a:avLst/>
          </a:prstGeom>
          <a:ln w="16510">
            <a:solidFill>
              <a:srgbClr val="40C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063239" y="3172968"/>
            <a:ext cx="128017" cy="512063"/>
          </a:xfrm>
          <a:prstGeom prst="line">
            <a:avLst/>
          </a:prstGeom>
          <a:ln w="16510">
            <a:solidFill>
              <a:srgbClr val="40C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191256" y="3172968"/>
            <a:ext cx="100583" cy="329184"/>
          </a:xfrm>
          <a:prstGeom prst="line">
            <a:avLst/>
          </a:prstGeom>
          <a:ln w="16510">
            <a:solidFill>
              <a:srgbClr val="40CD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263640" y="1508760"/>
            <a:ext cx="5257800" cy="3108960"/>
          </a:xfrm>
          <a:prstGeom prst="roundRect">
            <a:avLst/>
          </a:prstGeom>
          <a:solidFill>
            <a:srgbClr val="081222"/>
          </a:solidFill>
          <a:ln w="15240">
            <a:solidFill>
              <a:srgbClr val="38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0" y="1600200"/>
            <a:ext cx="4983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16BEAE"/>
                </a:solidFill>
                <a:latin typeface="Aptos"/>
              </a:defRPr>
            </a:pPr>
            <a:r>
              <a:t>ALERTS — EVENTS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73368" y="1892807"/>
            <a:ext cx="868680" cy="2606039"/>
          </a:xfrm>
          <a:prstGeom prst="roundRect">
            <a:avLst/>
          </a:prstGeom>
          <a:solidFill>
            <a:srgbClr val="111F35"/>
          </a:solidFill>
          <a:ln w="15240">
            <a:solidFill>
              <a:srgbClr val="11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46520" y="2011680"/>
            <a:ext cx="731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700" b="1">
                <a:solidFill>
                  <a:srgbClr val="F5F8FC"/>
                </a:solidFill>
                <a:latin typeface="Aptos"/>
              </a:defRPr>
            </a:pPr>
            <a:r>
              <a:t>HealthPulse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50008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650" b="1">
                <a:solidFill>
                  <a:srgbClr val="4CC6E6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2633472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650" b="0">
                <a:solidFill>
                  <a:srgbClr val="AEBCCF"/>
                </a:solidFill>
                <a:latin typeface="Aptos"/>
              </a:defRPr>
            </a:pPr>
            <a:r>
              <a:t>Patients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2916936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650" b="0">
                <a:solidFill>
                  <a:srgbClr val="AEBCCF"/>
                </a:solidFill>
                <a:latin typeface="Aptos"/>
              </a:defRPr>
            </a:pPr>
            <a:r>
              <a:t>Sensors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3200400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650" b="0">
                <a:solidFill>
                  <a:srgbClr val="AEBCCF"/>
                </a:solidFill>
                <a:latin typeface="Aptos"/>
              </a:defRPr>
            </a:pPr>
            <a:r>
              <a:t>Alerts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483863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650" b="0">
                <a:solidFill>
                  <a:srgbClr val="AEBCCF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19" y="1947672"/>
            <a:ext cx="4023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1">
                <a:solidFill>
                  <a:srgbClr val="F5F8FC"/>
                </a:solidFill>
                <a:latin typeface="Aptos"/>
              </a:defRPr>
            </a:pPr>
            <a:r>
              <a:t>Alerts &amp; Notifications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60919" y="2295144"/>
            <a:ext cx="4023360" cy="310896"/>
          </a:xfrm>
          <a:prstGeom prst="roundRect">
            <a:avLst/>
          </a:prstGeom>
          <a:solidFill>
            <a:srgbClr val="14263C"/>
          </a:solidFill>
          <a:ln w="15240">
            <a:solidFill>
              <a:srgbClr val="2A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15783" y="2359151"/>
            <a:ext cx="36576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650" b="0">
                <a:solidFill>
                  <a:srgbClr val="AEBCCF"/>
                </a:solidFill>
                <a:latin typeface="Aptos"/>
              </a:defRPr>
            </a:pPr>
            <a:r>
              <a:t>10:24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99831" y="2359151"/>
            <a:ext cx="41148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650" b="1">
                <a:solidFill>
                  <a:srgbClr val="F5F8FC"/>
                </a:solidFill>
                <a:latin typeface="Aptos"/>
              </a:defRPr>
            </a:pPr>
            <a:r>
              <a:t>P002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38743" y="2359151"/>
            <a:ext cx="246888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650" b="0">
                <a:solidFill>
                  <a:srgbClr val="F5F8FC"/>
                </a:solidFill>
                <a:latin typeface="Aptos"/>
              </a:defRPr>
            </a:pPr>
            <a:r>
              <a:t>Heart rate high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44200" y="2359151"/>
            <a:ext cx="566928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620" b="1">
                <a:solidFill>
                  <a:srgbClr val="FF5B70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60919" y="2688336"/>
            <a:ext cx="4023360" cy="310896"/>
          </a:xfrm>
          <a:prstGeom prst="roundRect">
            <a:avLst/>
          </a:prstGeom>
          <a:solidFill>
            <a:srgbClr val="14263C"/>
          </a:solidFill>
          <a:ln w="15240">
            <a:solidFill>
              <a:srgbClr val="2A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415783" y="2752344"/>
            <a:ext cx="36576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650" b="0">
                <a:solidFill>
                  <a:srgbClr val="AEBCCF"/>
                </a:solidFill>
                <a:latin typeface="Aptos"/>
              </a:defRPr>
            </a:pPr>
            <a:r>
              <a:t>10:22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99831" y="2752344"/>
            <a:ext cx="41148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650" b="1">
                <a:solidFill>
                  <a:srgbClr val="F5F8FC"/>
                </a:solidFill>
                <a:latin typeface="Aptos"/>
              </a:defRPr>
            </a:pPr>
            <a:r>
              <a:t>P003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38743" y="2752344"/>
            <a:ext cx="246888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650" b="0">
                <a:solidFill>
                  <a:srgbClr val="F5F8FC"/>
                </a:solidFill>
                <a:latin typeface="Aptos"/>
              </a:defRPr>
            </a:pPr>
            <a:r>
              <a:t>SpO₂ below limit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44200" y="2752344"/>
            <a:ext cx="566928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620" b="1">
                <a:solidFill>
                  <a:srgbClr val="FF5B70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60919" y="3081527"/>
            <a:ext cx="4023360" cy="310896"/>
          </a:xfrm>
          <a:prstGeom prst="roundRect">
            <a:avLst/>
          </a:prstGeom>
          <a:solidFill>
            <a:srgbClr val="14263C"/>
          </a:solidFill>
          <a:ln w="15240">
            <a:solidFill>
              <a:srgbClr val="2A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415783" y="3145535"/>
            <a:ext cx="36576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650" b="0">
                <a:solidFill>
                  <a:srgbClr val="AEBCCF"/>
                </a:solidFill>
                <a:latin typeface="Aptos"/>
              </a:defRPr>
            </a:pPr>
            <a:r>
              <a:t>10:20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99831" y="3145535"/>
            <a:ext cx="41148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650" b="1">
                <a:solidFill>
                  <a:srgbClr val="F5F8FC"/>
                </a:solidFill>
                <a:latin typeface="Aptos"/>
              </a:defRPr>
            </a:pPr>
            <a:r>
              <a:t>P001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38743" y="3145535"/>
            <a:ext cx="246888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650" b="0">
                <a:solidFill>
                  <a:srgbClr val="F5F8FC"/>
                </a:solidFill>
                <a:latin typeface="Aptos"/>
              </a:defRPr>
            </a:pPr>
            <a:r>
              <a:t>Temperature high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44200" y="3145535"/>
            <a:ext cx="566928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620" b="1">
                <a:solidFill>
                  <a:srgbClr val="FF5B70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60919" y="3474720"/>
            <a:ext cx="4023360" cy="310896"/>
          </a:xfrm>
          <a:prstGeom prst="roundRect">
            <a:avLst/>
          </a:prstGeom>
          <a:solidFill>
            <a:srgbClr val="14263C"/>
          </a:solidFill>
          <a:ln w="15240">
            <a:solidFill>
              <a:srgbClr val="2A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415783" y="3538727"/>
            <a:ext cx="36576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650" b="0">
                <a:solidFill>
                  <a:srgbClr val="AEBCCF"/>
                </a:solidFill>
                <a:latin typeface="Aptos"/>
              </a:defRPr>
            </a:pPr>
            <a:r>
              <a:t>10:18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99831" y="3538727"/>
            <a:ext cx="41148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650" b="1">
                <a:solidFill>
                  <a:srgbClr val="F5F8FC"/>
                </a:solidFill>
                <a:latin typeface="Aptos"/>
              </a:defRPr>
            </a:pPr>
            <a:r>
              <a:t>P004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38743" y="3538727"/>
            <a:ext cx="246888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650" b="0">
                <a:solidFill>
                  <a:srgbClr val="F5F8FC"/>
                </a:solidFill>
                <a:latin typeface="Aptos"/>
              </a:defRPr>
            </a:pPr>
            <a:r>
              <a:t>Fall event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744200" y="3538727"/>
            <a:ext cx="566928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620" b="1">
                <a:solidFill>
                  <a:srgbClr val="FF5B70"/>
                </a:solidFill>
                <a:latin typeface="Aptos"/>
              </a:defRPr>
            </a:pPr>
            <a:r>
              <a:t>ALERT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4983480"/>
            <a:ext cx="10744200" cy="640080"/>
          </a:xfrm>
          <a:prstGeom prst="roundRect">
            <a:avLst/>
          </a:prstGeom>
          <a:solidFill>
            <a:srgbClr val="182A44"/>
          </a:solidFill>
          <a:ln w="15240">
            <a:solidFill>
              <a:srgbClr val="2A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14400" y="5138928"/>
            <a:ext cx="10332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0">
                <a:solidFill>
                  <a:srgbClr val="F5F8FC"/>
                </a:solidFill>
                <a:latin typeface="Aptos"/>
              </a:defRPr>
            </a:pPr>
            <a:r>
              <a:t>Additional views: Login / Register  •  Patients  •  Sensors  •  History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240" y="580644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0">
                <a:solidFill>
                  <a:srgbClr val="FFA448"/>
                </a:solidFill>
                <a:latin typeface="Aptos"/>
              </a:defRPr>
            </a:pPr>
            <a:r>
              <a:t>Note: these are representative mockups; replace with actual screenshots from your running app for final submission.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AEBCCF"/>
                </a:solidFill>
                <a:latin typeface="Aptos"/>
              </a:defRPr>
            </a:pPr>
            <a:r>
              <a:t>HealthPulse • Project-Based Learning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AEBCCF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50976"/>
            <a:ext cx="685800" cy="50292"/>
          </a:xfrm>
          <a:prstGeom prst="rect">
            <a:avLst/>
          </a:prstGeom>
          <a:solidFill>
            <a:srgbClr val="16BEAE"/>
          </a:solidFill>
          <a:ln w="15240">
            <a:solidFill>
              <a:srgbClr val="16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AEBCCF"/>
                </a:solidFill>
                <a:latin typeface="Aptos"/>
              </a:defRPr>
            </a:pPr>
            <a:r>
              <a:t>Planned improvements beyond the current academic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AEBCC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166360" cy="1170432"/>
          </a:xfrm>
          <a:prstGeom prst="roundRect">
            <a:avLst/>
          </a:prstGeom>
          <a:solidFill>
            <a:srgbClr val="182A44"/>
          </a:solidFill>
          <a:ln w="15240">
            <a:solidFill>
              <a:srgbClr val="2A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64008" cy="1170432"/>
          </a:xfrm>
          <a:prstGeom prst="rect">
            <a:avLst/>
          </a:prstGeom>
          <a:solidFill>
            <a:srgbClr val="16BEAE"/>
          </a:solidFill>
          <a:ln w="15240">
            <a:solidFill>
              <a:srgbClr val="16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73351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6BEAE"/>
                </a:solidFill>
                <a:latin typeface="Aptos"/>
              </a:defRPr>
            </a:pPr>
            <a:r>
              <a:t>PHYSICAL SENSOR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84831"/>
            <a:ext cx="4818888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Connect MAX30102, ECG, temperature and fall-detection sensors to replace simulated readings.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166360" cy="1170432"/>
          </a:xfrm>
          <a:prstGeom prst="roundRect">
            <a:avLst/>
          </a:prstGeom>
          <a:solidFill>
            <a:srgbClr val="182A44"/>
          </a:solidFill>
          <a:ln w="15240">
            <a:solidFill>
              <a:srgbClr val="2A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64008" cy="1170432"/>
          </a:xfrm>
          <a:prstGeom prst="rect">
            <a:avLst/>
          </a:prstGeom>
          <a:solidFill>
            <a:srgbClr val="7E5FF5"/>
          </a:solidFill>
          <a:ln w="15240">
            <a:solidFill>
              <a:srgbClr val="7E5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1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7E5FF5"/>
                </a:solidFill>
                <a:latin typeface="Aptos"/>
              </a:defRPr>
            </a:pPr>
            <a:r>
              <a:t>PERSISTENT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1"/>
            <a:ext cx="4818888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Enable PostgreSQL/TimescaleDB and store patient and telemetry history across restarts.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5166360" cy="1170432"/>
          </a:xfrm>
          <a:prstGeom prst="roundRect">
            <a:avLst/>
          </a:prstGeom>
          <a:solidFill>
            <a:srgbClr val="182A44"/>
          </a:solidFill>
          <a:ln w="15240">
            <a:solidFill>
              <a:srgbClr val="2A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2926080"/>
            <a:ext cx="64008" cy="1170432"/>
          </a:xfrm>
          <a:prstGeom prst="rect">
            <a:avLst/>
          </a:prstGeom>
          <a:solidFill>
            <a:srgbClr val="FFA448"/>
          </a:solidFill>
          <a:ln w="15240">
            <a:solidFill>
              <a:srgbClr val="FFA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090672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FFA448"/>
                </a:solidFill>
                <a:latin typeface="Aptos"/>
              </a:defRPr>
            </a:pPr>
            <a:r>
              <a:t>ADVANCED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502152"/>
            <a:ext cx="4818888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Add configurable clinical thresholds, alert acknowledgement and notification channels.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926080"/>
            <a:ext cx="5166360" cy="1170432"/>
          </a:xfrm>
          <a:prstGeom prst="roundRect">
            <a:avLst/>
          </a:prstGeom>
          <a:solidFill>
            <a:srgbClr val="182A44"/>
          </a:solidFill>
          <a:ln w="15240">
            <a:solidFill>
              <a:srgbClr val="2A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2926080"/>
            <a:ext cx="64008" cy="1170432"/>
          </a:xfrm>
          <a:prstGeom prst="rect">
            <a:avLst/>
          </a:prstGeom>
          <a:solidFill>
            <a:srgbClr val="4CC6E6"/>
          </a:solidFill>
          <a:ln w="15240">
            <a:solidFill>
              <a:srgbClr val="4CC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090672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4CC6E6"/>
                </a:solidFill>
                <a:latin typeface="Aptos"/>
              </a:defRPr>
            </a:pPr>
            <a:r>
              <a:t>SECURITY &amp;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502152"/>
            <a:ext cx="4818888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Add role-based access, stronger session controls, audit logging and production secret management.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43400"/>
            <a:ext cx="5166360" cy="1170432"/>
          </a:xfrm>
          <a:prstGeom prst="roundRect">
            <a:avLst/>
          </a:prstGeom>
          <a:solidFill>
            <a:srgbClr val="182A44"/>
          </a:solidFill>
          <a:ln w="15240">
            <a:solidFill>
              <a:srgbClr val="2A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4343400"/>
            <a:ext cx="64008" cy="1170432"/>
          </a:xfrm>
          <a:prstGeom prst="rect">
            <a:avLst/>
          </a:prstGeom>
          <a:solidFill>
            <a:srgbClr val="40CD8E"/>
          </a:solidFill>
          <a:ln w="15240">
            <a:solidFill>
              <a:srgbClr val="40C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507992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40CD8E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19472"/>
            <a:ext cx="4818888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Deploy frontend and backend, configure environment variables and automate tests through CI/CD.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343400"/>
            <a:ext cx="5166360" cy="1170432"/>
          </a:xfrm>
          <a:prstGeom prst="roundRect">
            <a:avLst/>
          </a:prstGeom>
          <a:solidFill>
            <a:srgbClr val="182A44"/>
          </a:solidFill>
          <a:ln w="15240">
            <a:solidFill>
              <a:srgbClr val="2A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4343400"/>
            <a:ext cx="64008" cy="1170432"/>
          </a:xfrm>
          <a:prstGeom prst="rect">
            <a:avLst/>
          </a:prstGeom>
          <a:solidFill>
            <a:srgbClr val="FF5B70"/>
          </a:solidFill>
          <a:ln w="15240">
            <a:solidFill>
              <a:srgbClr val="FF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4507992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FF5B70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919472"/>
            <a:ext cx="4818888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  <a:latin typeface="Aptos"/>
              </a:defRPr>
            </a:pPr>
            <a:r>
              <a:t>Add last-24-hour trends, summaries, downloadable reports and anomaly detection.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897880"/>
            <a:ext cx="10744200" cy="411480"/>
          </a:xfrm>
          <a:prstGeom prst="roundRect">
            <a:avLst/>
          </a:prstGeom>
          <a:solidFill>
            <a:srgbClr val="193F4E"/>
          </a:solidFill>
          <a:ln w="15240">
            <a:solidFill>
              <a:srgbClr val="193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971032"/>
            <a:ext cx="103327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HealthPulse is an academic prototype and is not a certified medical device.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AEBCCF"/>
                </a:solidFill>
                <a:latin typeface="Aptos"/>
              </a:defRPr>
            </a:pPr>
            <a:r>
              <a:t>HealthPulse • Project-Based Learning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AEBCCF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910</Words>
  <Application>Microsoft Office PowerPoint</Application>
  <PresentationFormat>Widescreen</PresentationFormat>
  <Paragraphs>149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dell</cp:lastModifiedBy>
  <cp:revision>2</cp:revision>
  <dcterms:created xsi:type="dcterms:W3CDTF">2013-01-27T09:14:16Z</dcterms:created>
  <dcterms:modified xsi:type="dcterms:W3CDTF">2026-10-16T12:44:43Z</dcterms:modified>
  <cp:category/>
</cp:coreProperties>
</file>